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69" r:id="rId5"/>
    <p:sldId id="266" r:id="rId6"/>
    <p:sldId id="271" r:id="rId7"/>
    <p:sldId id="267" r:id="rId8"/>
    <p:sldId id="272" r:id="rId9"/>
    <p:sldId id="273" r:id="rId10"/>
    <p:sldId id="274" r:id="rId11"/>
    <p:sldId id="268" r:id="rId12"/>
    <p:sldId id="263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6" autoAdjust="0"/>
    <p:restoredTop sz="74612"/>
  </p:normalViewPr>
  <p:slideViewPr>
    <p:cSldViewPr snapToGrid="0" showGuides="1">
      <p:cViewPr>
        <p:scale>
          <a:sx n="99" d="100"/>
          <a:sy n="99" d="100"/>
        </p:scale>
        <p:origin x="1160" y="176"/>
      </p:cViewPr>
      <p:guideLst>
        <p:guide orient="horz" pos="2160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75" d="100"/>
        <a:sy n="175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ym typeface="+mn-ea"/>
              </a:rPr>
              <a:t> Hi everyone, I’m </a:t>
            </a:r>
            <a:r>
              <a:rPr lang="en-US" altLang="en-US" dirty="0" err="1">
                <a:sym typeface="+mn-ea"/>
              </a:rPr>
              <a:t>Chentong</a:t>
            </a:r>
            <a:r>
              <a:rPr lang="en-US" altLang="en-US" dirty="0">
                <a:sym typeface="+mn-ea"/>
              </a:rPr>
              <a:t> Hao from </a:t>
            </a:r>
            <a:r>
              <a:rPr lang="en-US" altLang="en-US" dirty="0">
                <a:sym typeface="+mn-ea"/>
              </a:rPr>
              <a:t>Data Science Institute,</a:t>
            </a:r>
            <a:r>
              <a:rPr lang="en-US" altLang="en-US" dirty="0">
                <a:sym typeface="+mn-ea"/>
              </a:rPr>
              <a:t>.</a:t>
            </a:r>
            <a:endParaRPr lang="en-US" altLang="en-US" dirty="0"/>
          </a:p>
          <a:p>
            <a:r>
              <a:rPr lang="en-US" altLang="en-US" dirty="0">
                <a:sym typeface="+mn-ea"/>
              </a:rPr>
              <a:t>My project is about predicting delivery delays on Brazil’s largest e-commerce platform, </a:t>
            </a:r>
            <a:r>
              <a:rPr lang="en-US" altLang="en-US" dirty="0" err="1">
                <a:sym typeface="+mn-ea"/>
              </a:rPr>
              <a:t>Olist</a:t>
            </a:r>
            <a:r>
              <a:rPr lang="en-US" altLang="en-US" dirty="0">
                <a:sym typeface="+mn-ea"/>
              </a:rPr>
              <a:t>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binary classification problem, and my target variable is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is_late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>
                <a:effectLst/>
                <a:sym typeface="+mn-ea"/>
              </a:rPr>
              <a:t>The dataset was publicly released on </a:t>
            </a:r>
            <a:r>
              <a:rPr lang="en-US" b="1" dirty="0">
                <a:effectLst/>
                <a:sym typeface="+mn-ea"/>
              </a:rPr>
              <a:t>Kaggle</a:t>
            </a:r>
            <a:r>
              <a:rPr lang="en-US" dirty="0">
                <a:effectLst/>
                <a:sym typeface="+mn-ea"/>
              </a:rPr>
              <a:t> .</a:t>
            </a:r>
            <a:endParaRPr 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>
                <a:effectLst/>
                <a:sym typeface="+mn-ea"/>
              </a:rPr>
              <a:t>The data contains over 100k </a:t>
            </a:r>
            <a:r>
              <a:rPr lang="en-US" b="1" dirty="0">
                <a:effectLst/>
                <a:sym typeface="+mn-ea"/>
              </a:rPr>
              <a:t>real transactional records</a:t>
            </a:r>
            <a:r>
              <a:rPr lang="en-US" dirty="0">
                <a:effectLst/>
                <a:sym typeface="+mn-ea"/>
              </a:rPr>
              <a:t> ,</a:t>
            </a:r>
            <a:endParaRPr lang="en-US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>
                <a:effectLst/>
                <a:sym typeface="+mn-ea"/>
              </a:rPr>
              <a:t>with each row represent</a:t>
            </a:r>
            <a:r>
              <a:rPr lang="en-US" dirty="0">
                <a:effectLst/>
                <a:sym typeface="+mn-ea"/>
              </a:rPr>
              <a:t>ing </a:t>
            </a:r>
            <a:r>
              <a:rPr lang="en-US" b="1" dirty="0">
                <a:effectLst/>
                <a:sym typeface="+mn-ea"/>
              </a:rPr>
              <a:t>one actual order</a:t>
            </a:r>
            <a:r>
              <a:rPr lang="en-US" dirty="0">
                <a:effectLst/>
                <a:sym typeface="+mn-ea"/>
              </a:rPr>
              <a:t> placed on the platform.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as the EDA shows, my dataset is extremely imbalanced so I addressed this issue later in the modeling process.This figure summarizes my preprocessing and missing-value strategy. I have three feature types: categorical, numerical/ordinal, and temporal, which go through One-Hot Encoding, StandardScaler, and cyclic encoding.The only missing field is seller_avg_score_past, so I train two submodels: one using rows where it exists and one reduced-feature model where it is missing.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For cross validation,I use repeated stratified 60/20/20 splits for train/validation/test across 3 random seeds. I chose this setup because the dataset is large enough for simple splits, the target is highly imbalanced so stratification is essential.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Across the models, I tune the main capacity and regularization settings: for KNN I adjust how many neighbors it considers and what distance metric it uses; for SVM I tune C, gamma, and the kernel; for logistic regression I tune the strength of regularization and whether it uses L1 or L2; for the decision tree I tune its depth and how many samples are required to split; and for XGBoost I tune learning rate, max depth, L1 and L2 penalties, sampling rates, and the class-imbalance parameter.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Because the dataset is highly imbalanced, the key hyperparameters are the weight-related ones: SVM, logistic regression, and the decision tree use class_weight, while XGBoost uses scale_pos_weight to up-weight late deliveries.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For results, I compare against a simple baseline that always predicts ‘late’ (F1 ≈ 0.15), and all of my models perform better than this. XGBoost is clearly the best, with a mean test F1 around 0.34 ± 0.01, because it can capture nonlinear patterns and feature interactions, handle the strong class imbalance via scale_pos_weight, and use early stopping to control model complexity. </a:t>
            </a:r>
            <a:endParaRPr lang="en-US" altLang="en-US"/>
          </a:p>
          <a:p>
            <a:r>
              <a:rPr lang="en-US" altLang="en-US"/>
              <a:t>KNN performs worst, with F1 only around 0.16. Thus suggests a simple distance-based method struggles in this high-dimensional, one-hot encoded and imbalanced setting.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 Overall, this comparison shows that tree-based boosting is the most suitable model for my late-delivery problem, while every non-trivial model still improves meaningfully over the naive baselines.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confusion matrix helps show what the model is getting right and wrong. It classifies about 92% of on-time orders correctly, which is expected for the majority class. For late deliveries, it detects about 39% — a clear improvement over the baseline (0%), though many late cases are still missed because the problem is highly imbalanced.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Now I tet to identify the important features, I compare three global importance methods for my best XGBoost model: gain, permutation importance, and SHAP.</a:t>
            </a:r>
            <a:endParaRPr lang="en-US" altLang="en-US"/>
          </a:p>
          <a:p>
            <a:r>
              <a:rPr lang="en-US" altLang="en-US"/>
              <a:t>Even though they use very different definitions, they consistently highlight the same key features: purchase_to_estimated_days, the cyclic time features and the customer–seller state indicators.</a:t>
            </a:r>
            <a:endParaRPr lang="en-US" altLang="en-US"/>
          </a:p>
          <a:p>
            <a:r>
              <a:rPr lang="en-US" altLang="en-US"/>
              <a:t>This agreement suggests the model is picking up real, stable patterns: late deliveries are mostly driven by how tight the delivery window is, the time of year, and how far the package has to travel.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For local explanations, the force plot was hard to read, so I use a SHAP waterfall plot instead.</a:t>
            </a:r>
            <a:endParaRPr lang="en-US" altLang="en-US"/>
          </a:p>
          <a:p>
            <a:r>
              <a:rPr lang="en-US" altLang="en-US"/>
              <a:t>This example order has a low predicted late-delivery probability (~4.9%).</a:t>
            </a:r>
            <a:endParaRPr lang="en-US" altLang="en-US"/>
          </a:p>
          <a:p>
            <a:r>
              <a:rPr lang="en-US" altLang="en-US"/>
              <a:t>A few features clearly push the risk down — ordering well before the estimated date, moderate freight cost, seasonal signals, and a good seller score — while most other features have SHAP values near zero, meaning the order looks otherwise very typical.</a:t>
            </a: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“For outlook, I see three directions.</a:t>
            </a:r>
            <a:endParaRPr lang="en-US" altLang="en-US"/>
          </a:p>
          <a:p>
            <a:r>
              <a:rPr lang="en-US" altLang="en-US"/>
              <a:t>First, richer features – today we only use public Olist fields, but internal operational and context data could greatly boost accuracy.</a:t>
            </a:r>
            <a:endParaRPr lang="en-US" altLang="en-US"/>
          </a:p>
          <a:p>
            <a:r>
              <a:rPr lang="en-US" altLang="en-US"/>
              <a:t>Second, handling class imbalance more aggressively – with better resampling and imbalance-robust models.</a:t>
            </a:r>
            <a:endParaRPr lang="en-US" altLang="en-US"/>
          </a:p>
          <a:p>
            <a:r>
              <a:rPr lang="en-US" altLang="en-US"/>
              <a:t>Third, improving interpretability – turning SHAP patterns into simple business rules and adding a few complementary plots for non-technical users.”</a:t>
            </a: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chentonghao/Midterm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76860" y="2085975"/>
            <a:ext cx="13666470" cy="190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5400" dirty="0">
                <a:latin typeface="Times New Roman Regular" panose="02020503050405090304" charset="0"/>
                <a:cs typeface="Times New Roman Regular" panose="02020503050405090304" charset="0"/>
              </a:rPr>
              <a:t>On Time or Not?</a:t>
            </a:r>
            <a:r>
              <a:rPr lang="en-US" altLang="en-US" sz="48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endParaRPr lang="en-US" altLang="en-US" sz="48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 dirty="0">
                <a:latin typeface="Times New Roman Regular" panose="02020503050405090304" charset="0"/>
              </a:rPr>
              <a:t>Predicting Delivery Delays on Brazil’s largest e-commerce platform, </a:t>
            </a:r>
            <a:r>
              <a:rPr lang="en-US" altLang="en-US" sz="2800" dirty="0" err="1">
                <a:latin typeface="Times New Roman Regular" panose="02020503050405090304" charset="0"/>
              </a:rPr>
              <a:t>Olist</a:t>
            </a:r>
            <a:endParaRPr lang="en-US" altLang="en-US" sz="2800" dirty="0">
              <a:latin typeface="Times New Roman Regular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4347260"/>
            <a:ext cx="12190730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400" dirty="0" err="1"/>
              <a:t>Chentong</a:t>
            </a:r>
            <a:r>
              <a:rPr lang="en-US" altLang="en-US" sz="4400" dirty="0"/>
              <a:t> Hao</a:t>
            </a:r>
            <a:endParaRPr lang="en-US" altLang="en-US" sz="4400" dirty="0"/>
          </a:p>
          <a:p>
            <a:pPr algn="ctr"/>
            <a:r>
              <a:rPr lang="en-US" altLang="en-US" sz="2400" dirty="0"/>
              <a:t>December 12</a:t>
            </a:r>
            <a:r>
              <a:rPr lang="en-US" altLang="en-US" sz="2400" dirty="0"/>
              <a:t>th, 2025</a:t>
            </a:r>
            <a:endParaRPr lang="en-US" altLang="en-US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30628" y="6134905"/>
            <a:ext cx="42055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dirty="0"/>
              <a:t>Data Science Institute </a:t>
            </a:r>
            <a:endParaRPr lang="en-US" altLang="en-US" dirty="0"/>
          </a:p>
          <a:p>
            <a:r>
              <a:rPr lang="en-US" altLang="en-US" dirty="0">
                <a:sym typeface="+mn-ea"/>
                <a:hlinkClick r:id="rId1"/>
              </a:rPr>
              <a:t>https://github.com/chentonghao/Midterm</a:t>
            </a:r>
            <a:endParaRPr lang="en-US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stockphoto-1215138284-612x6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5145" y="959485"/>
            <a:ext cx="3733800" cy="266065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48590" y="738505"/>
            <a:ext cx="8421370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>
                <a:solidFill>
                  <a:schemeClr val="accent2"/>
                </a:solidFill>
                <a:latin typeface="Times New Roman Bold" panose="02020503050405090304" charset="0"/>
                <a:cs typeface="Times New Roman Bold" panose="02020503050405090304" charset="0"/>
              </a:rPr>
              <a:t>Problem Definition: </a:t>
            </a:r>
            <a:endParaRPr lang="en-US" sz="2400" b="1">
              <a:solidFill>
                <a:schemeClr val="accent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200">
                <a:solidFill>
                  <a:schemeClr val="accent1"/>
                </a:solidFill>
                <a:latin typeface="Times New Roman" panose="02020503050405090304" charset="0"/>
                <a:cs typeface="Times New Roman" panose="02020503050405090304" charset="0"/>
              </a:rPr>
              <a:t>Predict whether an e-commerce order will be delivered on time.</a:t>
            </a:r>
            <a:endParaRPr lang="en-US" altLang="en-US" sz="2200">
              <a:solidFill>
                <a:schemeClr val="accent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48590" y="1877695"/>
            <a:ext cx="1161097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2400" b="1" dirty="0">
                <a:solidFill>
                  <a:schemeClr val="accent2"/>
                </a:solidFill>
                <a:latin typeface="Times New Roman Bold" panose="02020503050405090304" charset="0"/>
                <a:cs typeface="Times New Roman Bold" panose="02020503050405090304" charset="0"/>
              </a:rPr>
              <a:t>Type of Task: Binary Classification</a:t>
            </a:r>
            <a:endParaRPr lang="en-US" sz="2400" b="1" dirty="0">
              <a:solidFill>
                <a:schemeClr val="accent2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Target: is_late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1 → Delivered after estimated date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0 → Delivered on time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1220450" y="864235"/>
            <a:ext cx="11303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/>
              <a:t>🤯</a:t>
            </a:r>
            <a:endParaRPr lang="en-US" sz="5400"/>
          </a:p>
        </p:txBody>
      </p:sp>
      <p:sp>
        <p:nvSpPr>
          <p:cNvPr id="14" name="Text Box 13"/>
          <p:cNvSpPr txBox="1"/>
          <p:nvPr/>
        </p:nvSpPr>
        <p:spPr>
          <a:xfrm>
            <a:off x="170180" y="212090"/>
            <a:ext cx="8061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 Regular" panose="02020503050405090304" charset="0"/>
                <a:cs typeface="Times New Roman Regular" panose="02020503050405090304" charset="0"/>
              </a:rPr>
              <a:t>1 Recap</a:t>
            </a:r>
            <a:endParaRPr lang="en-US" sz="3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47955" y="4043045"/>
            <a:ext cx="730631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Arial" panose="020B0604020202090204" pitchFamily="34" charset="0"/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Data Set</a:t>
            </a:r>
            <a:endParaRPr lang="en-US" sz="2400" b="1" dirty="0">
              <a:solidFill>
                <a:schemeClr val="accent2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Source: </a:t>
            </a:r>
            <a:r>
              <a:rPr lang="en-US" altLang="en-US" sz="2200" dirty="0" err="1">
                <a:latin typeface="Times New Roman Regular" panose="02020503050405090304" charset="0"/>
                <a:cs typeface="Times New Roman Regular" panose="02020503050405090304" charset="0"/>
              </a:rPr>
              <a:t>Olist</a:t>
            </a: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 — Brazil’s largest e-commerce platform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Public release on Kaggle (</a:t>
            </a:r>
            <a:r>
              <a:rPr lang="en-US" altLang="en-US" sz="2200" dirty="0" err="1">
                <a:latin typeface="Times New Roman Regular" panose="02020503050405090304" charset="0"/>
                <a:cs typeface="Times New Roman Regular" panose="02020503050405090304" charset="0"/>
              </a:rPr>
              <a:t>Olist</a:t>
            </a: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 data-sharing initiative)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Real transactional records from 2016–2018 (100k in total)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sz="2200" dirty="0">
                <a:latin typeface="Times New Roman Regular" panose="02020503050405090304" charset="0"/>
                <a:cs typeface="Times New Roman Regular" panose="02020503050405090304" charset="0"/>
              </a:rPr>
              <a:t>Each row = one real order</a:t>
            </a:r>
            <a:endParaRPr lang="en-US" altLang="en-US" sz="22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7" name="Picture 16" descr="/Users/hct/Library/Containers/com.kingsoft.wpsoffice.mac/Data/tmp/picturecompress_20251019183708/output_1.pngoutput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535" y="4366260"/>
            <a:ext cx="4355465" cy="2306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1 Recap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31520" y="1013460"/>
            <a:ext cx="7623810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en-US" sz="2800" dirty="0">
                <a:latin typeface="Times New Roman Regular" panose="02020503050405090304" charset="0"/>
                <a:cs typeface="Times New Roman Regular" panose="02020503050405090304" charset="0"/>
              </a:rPr>
              <a:t>The most important EDA conclusion:</a:t>
            </a:r>
            <a:endParaRPr lang="en-US" altLang="en-US" sz="28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200000"/>
              </a:lnSpc>
            </a:pPr>
            <a:r>
              <a:rPr lang="en-US" altLang="en-US" sz="2400" b="1" dirty="0">
                <a:solidFill>
                  <a:schemeClr val="accent2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2400" b="1" dirty="0">
                <a:solidFill>
                  <a:schemeClr val="accent2"/>
                </a:solidFill>
                <a:latin typeface="Times New Roman Bold" panose="02020503050405090304" charset="0"/>
                <a:cs typeface="Times New Roman Bold" panose="02020503050405090304" charset="0"/>
              </a:rPr>
              <a:t>Strong class imbalance！</a:t>
            </a:r>
            <a:endParaRPr lang="en-US" altLang="en-US" sz="24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200000"/>
              </a:lnSpc>
            </a:pPr>
            <a:endParaRPr lang="en-US" altLang="en-US" sz="24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538480" y="3662680"/>
            <a:ext cx="10914380" cy="3085596"/>
            <a:chOff x="502" y="2919"/>
            <a:chExt cx="17846" cy="5466"/>
          </a:xfrm>
        </p:grpSpPr>
        <p:sp>
          <p:nvSpPr>
            <p:cNvPr id="13" name="Rounded Rectangle 12"/>
            <p:cNvSpPr/>
            <p:nvPr/>
          </p:nvSpPr>
          <p:spPr>
            <a:xfrm>
              <a:off x="502" y="2919"/>
              <a:ext cx="3056" cy="1378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>
                <a:latin typeface="Times New Roman Regular" panose="02020503050405090304" charset="0"/>
                <a:cs typeface="Times New Roman Regular" panose="02020503050405090304" charset="0"/>
                <a:sym typeface="+mn-ea"/>
              </a:endParaRPr>
            </a:p>
            <a:p>
              <a:pPr algn="ctr"/>
              <a:endParaRPr lang="en-US" altLang="en-US">
                <a:latin typeface="Times New Roman Regular" panose="02020503050405090304" charset="0"/>
                <a:cs typeface="Times New Roman Regular" panose="02020503050405090304" charset="0"/>
                <a:sym typeface="+mn-ea"/>
              </a:endParaRPr>
            </a:p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Categorical Features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endParaRPr lang="en-US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endParaRPr lang="en-US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2" y="4931"/>
              <a:ext cx="3057" cy="1542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>
                <a:latin typeface="Times New Roman Regular" panose="02020503050405090304" charset="0"/>
                <a:cs typeface="Times New Roman Regular" panose="02020503050405090304" charset="0"/>
                <a:sym typeface="+mn-ea"/>
              </a:endParaRPr>
            </a:p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Numerical &amp; Linear </a:t>
              </a:r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Ordinal Features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endParaRPr lang="en-US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02" y="7007"/>
              <a:ext cx="3057" cy="1378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Temporal Features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3994" y="5323"/>
              <a:ext cx="3576" cy="890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3764" y="4316"/>
              <a:ext cx="4132" cy="11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b="1">
                  <a:latin typeface="Times New Roman Bold" panose="02020503050405090304" charset="0"/>
                  <a:cs typeface="Times New Roman Bold" panose="02020503050405090304" charset="0"/>
                </a:rPr>
                <a:t>One missing column: </a:t>
              </a:r>
              <a:endParaRPr lang="en-US" b="1">
                <a:latin typeface="Times New Roman Bold" panose="02020503050405090304" charset="0"/>
                <a:cs typeface="Times New Roman Bold" panose="02020503050405090304" charset="0"/>
              </a:endParaRPr>
            </a:p>
            <a:p>
              <a:r>
                <a:rPr lang="en-US" altLang="en-US" b="1">
                  <a:latin typeface="Times New Roman Bold" panose="02020503050405090304" charset="0"/>
                  <a:cs typeface="Times New Roman Bold" panose="02020503050405090304" charset="0"/>
                </a:rPr>
                <a:t>seller_avg_score_past</a:t>
              </a:r>
              <a:endParaRPr lang="en-US" altLang="en-US" b="1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931" y="4518"/>
              <a:ext cx="5320" cy="1137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Full-feature models 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(with seller_avg_score_past)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931" y="5870"/>
              <a:ext cx="5352" cy="1137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Reduced-feature models 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ctr"/>
              <a:r>
                <a:rPr lang="en-US" altLang="en-US">
                  <a:latin typeface="Times New Roman Regular" panose="02020503050405090304" charset="0"/>
                  <a:cs typeface="Times New Roman Regular" panose="02020503050405090304" charset="0"/>
                </a:rPr>
                <a:t>(without seller_avg_score_past)</a:t>
              </a:r>
              <a:endParaRPr lang="en-US" altLang="en-US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8264" y="3789"/>
              <a:ext cx="6400" cy="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US" sz="2000" b="1">
                  <a:latin typeface="Times New Roman Bold" panose="02020503050405090304" charset="0"/>
                  <a:cs typeface="Times New Roman Bold" panose="02020503050405090304" charset="0"/>
                </a:rPr>
                <a:t>Pattern submodel approach</a:t>
              </a:r>
              <a:endParaRPr lang="en-US" altLang="en-US" sz="2000" b="1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15292" y="5095"/>
              <a:ext cx="3056" cy="1378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en-US">
                <a:sym typeface="+mn-ea"/>
              </a:endParaRPr>
            </a:p>
            <a:p>
              <a:pPr algn="ctr"/>
              <a:endParaRPr lang="en-US" altLang="en-US">
                <a:sym typeface="+mn-ea"/>
              </a:endParaRPr>
            </a:p>
            <a:p>
              <a:pPr algn="ctr"/>
              <a:r>
                <a:rPr lang="en-US" altLang="en-US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StandardScaler</a:t>
              </a:r>
              <a:endParaRPr lang="en-US" altLang="en-US"/>
            </a:p>
            <a:p>
              <a:pPr algn="ctr"/>
              <a:endParaRPr lang="en-US"/>
            </a:p>
            <a:p>
              <a:pPr algn="ctr"/>
              <a:endParaRPr lang="en-US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5292" y="2919"/>
              <a:ext cx="3056" cy="1378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dirty="0" err="1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OneHotEncoder</a:t>
              </a:r>
              <a:r>
                <a:rPr lang="en-US" altLang="en-US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 </a:t>
              </a:r>
              <a:endParaRPr lang="en-US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5292" y="7007"/>
              <a:ext cx="3056" cy="1378"/>
            </a:xfrm>
            <a:prstGeom prst="round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 dirty="0">
                  <a:latin typeface="Times New Roman Regular" panose="02020503050405090304" charset="0"/>
                  <a:cs typeface="Times New Roman Regular" panose="02020503050405090304" charset="0"/>
                  <a:sym typeface="+mn-ea"/>
                </a:rPr>
                <a:t>Cyclic encoding</a:t>
              </a:r>
              <a:endParaRPr lang="en-US"/>
            </a:p>
          </p:txBody>
        </p:sp>
        <p:cxnSp>
          <p:nvCxnSpPr>
            <p:cNvPr id="26" name="Elbow Connector 25"/>
            <p:cNvCxnSpPr>
              <a:stCxn id="19" idx="3"/>
            </p:cNvCxnSpPr>
            <p:nvPr/>
          </p:nvCxnSpPr>
          <p:spPr>
            <a:xfrm flipV="1">
              <a:off x="13251" y="3608"/>
              <a:ext cx="2115" cy="1479"/>
            </a:xfrm>
            <a:prstGeom prst="bentConnector3">
              <a:avLst>
                <a:gd name="adj1" fmla="val 50024"/>
              </a:avLst>
            </a:prstGeom>
            <a:ln w="984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3" idx="3"/>
            </p:cNvCxnSpPr>
            <p:nvPr/>
          </p:nvCxnSpPr>
          <p:spPr>
            <a:xfrm>
              <a:off x="3558" y="3608"/>
              <a:ext cx="11709" cy="0"/>
            </a:xfrm>
            <a:prstGeom prst="line">
              <a:avLst/>
            </a:prstGeom>
            <a:ln w="9842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Elbow Connector 34"/>
            <p:cNvCxnSpPr/>
            <p:nvPr/>
          </p:nvCxnSpPr>
          <p:spPr>
            <a:xfrm>
              <a:off x="14286" y="5094"/>
              <a:ext cx="981" cy="690"/>
            </a:xfrm>
            <a:prstGeom prst="bentConnector3">
              <a:avLst>
                <a:gd name="adj1" fmla="val 1325"/>
              </a:avLst>
            </a:prstGeom>
            <a:ln w="984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Elbow Connector 35"/>
            <p:cNvCxnSpPr/>
            <p:nvPr/>
          </p:nvCxnSpPr>
          <p:spPr>
            <a:xfrm>
              <a:off x="13282" y="6439"/>
              <a:ext cx="2042" cy="1257"/>
            </a:xfrm>
            <a:prstGeom prst="bentConnector3">
              <a:avLst>
                <a:gd name="adj1" fmla="val 50000"/>
              </a:avLst>
            </a:prstGeom>
            <a:ln w="98425"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4295" y="5753"/>
              <a:ext cx="0" cy="778"/>
            </a:xfrm>
            <a:prstGeom prst="line">
              <a:avLst/>
            </a:prstGeom>
            <a:ln w="9842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559" y="7698"/>
              <a:ext cx="10851" cy="0"/>
            </a:xfrm>
            <a:prstGeom prst="line">
              <a:avLst/>
            </a:prstGeom>
            <a:ln w="9842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0" y="356870"/>
            <a:ext cx="4136390" cy="31819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76225" y="925195"/>
            <a:ext cx="116713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sz="2000" dirty="0">
                <a:latin typeface="Times New Roman Regular" panose="02020503050405090304" charset="0"/>
                <a:cs typeface="Times New Roman Regular" panose="02020503050405090304" charset="0"/>
              </a:rPr>
              <a:t>Use repeated </a:t>
            </a:r>
            <a:r>
              <a:rPr lang="en-US" altLang="en-US" sz="2000" dirty="0">
                <a:latin typeface="Times New Roman Regular" panose="02020503050405090304" charset="0"/>
                <a:cs typeface="Times New Roman Regular" panose="02020503050405090304" charset="0"/>
              </a:rPr>
              <a:t>simple train60% / val20% / test20% splits (3 runs with different seeds) .</a:t>
            </a:r>
            <a:endParaRPr lang="en-US" altLang="en-US" sz="2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 sz="2000" dirty="0">
                <a:latin typeface="Times New Roman Regular" panose="02020503050405090304" charset="0"/>
                <a:cs typeface="Times New Roman Regular" panose="02020503050405090304" charset="0"/>
              </a:rPr>
              <a:t>Use stratify to preserve class balance in every split.</a:t>
            </a:r>
            <a:endParaRPr lang="en-US" altLang="en-US" sz="20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582930" y="2470150"/>
          <a:ext cx="11256010" cy="406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425"/>
                <a:gridCol w="9379585"/>
              </a:tblGrid>
              <a:tr h="597535">
                <a:tc>
                  <a:txBody>
                    <a:bodyPr/>
                    <a:p>
                      <a:pPr algn="ctr"/>
                      <a:r>
                        <a:rPr lang="en-US" altLang="zh-CN" sz="2000" b="1"/>
                        <a:t>Model</a:t>
                      </a:r>
                      <a:endParaRPr lang="en-US" altLang="zh-CN" sz="20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2000" b="1"/>
                        <a:t>  Hyperparameters (Search Space)</a:t>
                      </a:r>
                      <a:endParaRPr lang="en-US" altLang="zh-CN" sz="2000" b="1"/>
                    </a:p>
                  </a:txBody>
                  <a:tcPr marL="0" marR="0" marT="0" marB="0" anchor="ctr" anchorCtr="0"/>
                </a:tc>
              </a:tr>
              <a:tr h="596900">
                <a:tc>
                  <a:txBody>
                    <a:bodyPr/>
                    <a:p>
                      <a:pPr algn="ctr"/>
                      <a:r>
                        <a:rPr lang="en-US" altLang="zh-CN" sz="1900" b="1"/>
                        <a:t>KNN</a:t>
                      </a:r>
                      <a:endParaRPr lang="en-US" altLang="zh-CN" sz="19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900"/>
                        <a:t>n_neighbors: {3, 5, 11, 21};  weights: {“uniform”, “distance”};  p: {1, 2}</a:t>
                      </a:r>
                      <a:endParaRPr lang="en-US" altLang="zh-CN" sz="1900"/>
                    </a:p>
                  </a:txBody>
                  <a:tcPr marL="0" marR="0" marT="0" marB="0" anchor="ctr" anchorCtr="0"/>
                </a:tc>
              </a:tr>
              <a:tr h="605155">
                <a:tc>
                  <a:txBody>
                    <a:bodyPr/>
                    <a:p>
                      <a:pPr algn="ctr"/>
                      <a:r>
                        <a:rPr lang="en-US" altLang="zh-CN" sz="1900" b="1"/>
                        <a:t>SVM</a:t>
                      </a:r>
                      <a:endParaRPr lang="en-US" altLang="zh-CN" sz="19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900"/>
                        <a:t>C: {0.1, 1, 10};  kernel: {“linear”,“rbf”};  gamma: {“scale”,“auto”};  </a:t>
                      </a:r>
                      <a:endParaRPr lang="en-US" altLang="zh-CN" sz="1900"/>
                    </a:p>
                    <a:p>
                      <a:pPr algn="ctr"/>
                      <a:r>
                        <a:rPr lang="en-US" altLang="zh-CN" sz="1900">
                          <a:solidFill>
                            <a:schemeClr val="accent2"/>
                          </a:solidFill>
                        </a:rPr>
                        <a:t>class_weight</a:t>
                      </a:r>
                      <a:r>
                        <a:rPr lang="en-US" altLang="zh-CN" sz="1900"/>
                        <a:t>: {“balanced”}</a:t>
                      </a:r>
                      <a:endParaRPr lang="en-US" altLang="zh-CN" sz="1900"/>
                    </a:p>
                  </a:txBody>
                  <a:tcPr marL="0" marR="0" marT="0" marB="0" anchor="ctr" anchorCtr="0"/>
                </a:tc>
              </a:tr>
              <a:tr h="604520">
                <a:tc>
                  <a:txBody>
                    <a:bodyPr/>
                    <a:p>
                      <a:pPr algn="ctr"/>
                      <a:r>
                        <a:rPr lang="en-US" altLang="zh-CN" sz="1900" b="1"/>
                        <a:t>Logistic Regression</a:t>
                      </a:r>
                      <a:endParaRPr lang="en-US" altLang="zh-CN" sz="19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900"/>
                        <a:t>C: {0.01, 0.1, 1, 10};  penalty: {“l1”,“l2”};  </a:t>
                      </a:r>
                      <a:r>
                        <a:rPr lang="en-US" altLang="zh-CN" sz="1900">
                          <a:solidFill>
                            <a:schemeClr val="accent2"/>
                          </a:solidFill>
                        </a:rPr>
                        <a:t>class_weight</a:t>
                      </a:r>
                      <a:r>
                        <a:rPr lang="en-US" altLang="zh-CN" sz="1900"/>
                        <a:t>: {“balanced”};  </a:t>
                      </a:r>
                      <a:endParaRPr lang="en-US" altLang="zh-CN" sz="1900"/>
                    </a:p>
                    <a:p>
                      <a:pPr algn="ctr"/>
                      <a:r>
                        <a:rPr lang="en-US" altLang="zh-CN" sz="1900"/>
                        <a:t>solver: {“liblinear”}</a:t>
                      </a:r>
                      <a:endParaRPr lang="en-US" altLang="zh-CN" sz="1900"/>
                    </a:p>
                  </a:txBody>
                  <a:tcPr marL="0" marR="0" marT="0" marB="0" anchor="ctr" anchorCtr="0"/>
                </a:tc>
              </a:tr>
              <a:tr h="605155">
                <a:tc>
                  <a:txBody>
                    <a:bodyPr/>
                    <a:p>
                      <a:pPr algn="ctr"/>
                      <a:r>
                        <a:rPr lang="en-US" altLang="zh-CN" sz="1900" b="1"/>
                        <a:t>Decision Tree</a:t>
                      </a:r>
                      <a:endParaRPr lang="en-US" altLang="zh-CN" sz="19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900"/>
                        <a:t>max_depth: {3, 5, 10};  min_samples_split: {2, 10, 50};  min_samples_leaf: {1, 5, 20};  criterion: {“gini”,“entropy”};  </a:t>
                      </a:r>
                      <a:r>
                        <a:rPr lang="en-US" altLang="zh-CN" sz="1900">
                          <a:solidFill>
                            <a:schemeClr val="accent2"/>
                          </a:solidFill>
                        </a:rPr>
                        <a:t>class_weight</a:t>
                      </a:r>
                      <a:r>
                        <a:rPr lang="en-US" altLang="zh-CN" sz="1900"/>
                        <a:t>: {“balanced”}</a:t>
                      </a:r>
                      <a:endParaRPr lang="en-US" altLang="zh-CN" sz="1900"/>
                    </a:p>
                  </a:txBody>
                  <a:tcPr marL="0" marR="0" marT="0" marB="0" anchor="ctr" anchorCtr="0"/>
                </a:tc>
              </a:tr>
              <a:tr h="1052195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900" b="1"/>
                        <a:t>XGBoost</a:t>
                      </a:r>
                      <a:endParaRPr lang="en-US" altLang="zh-CN" sz="1900" b="1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900"/>
                        <a:t>learning_rate: {0.01, 0.03};  max_depth: {1, 3, 10};  reg_alpha: {0, 1e−2, 1e−1, 1, 10};  reg_lambda: {0, 1e−2, 1e−1, 1, 10};  subsample: {0.66}; </a:t>
                      </a:r>
                      <a:endParaRPr lang="en-US" altLang="zh-CN" sz="1900"/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900"/>
                        <a:t>colsample_bytree: {0.9}; </a:t>
                      </a:r>
                      <a:r>
                        <a:rPr lang="en-US" altLang="zh-CN" sz="1900">
                          <a:solidFill>
                            <a:schemeClr val="accent2"/>
                          </a:solidFill>
                        </a:rPr>
                        <a:t>scale_pos_weight</a:t>
                      </a:r>
                      <a:r>
                        <a:rPr lang="en-US" altLang="zh-CN" sz="1900"/>
                        <a:t>: {8, 12}; n_estimators: {5000}</a:t>
                      </a:r>
                      <a:endParaRPr lang="en-US" altLang="zh-CN" sz="19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2 Cross Validation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565910" y="-2471737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</a:rPr>
              <a:t>Results slide(s) (10 points)</a:t>
            </a:r>
            <a:endParaRPr lang="en-US" altLang="zh-CN" sz="1600" b="1" i="0">
              <a:solidFill>
                <a:srgbClr val="000000"/>
              </a:solidFill>
              <a:latin typeface="Arial" panose="020B0604020202090204"/>
              <a:ea typeface="Arial" panose="020B0604020202090204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Arial" panose="020B0604020202090204"/>
                <a:ea typeface="Arial" panose="020B0604020202090204"/>
              </a:rPr>
              <a:t>Calculate the baseline scores of your evaluation metric. Describe the test scores of each algorithm you tried (plot means and standard deviations). How do your scores compare to a simple baseline model? Inspect your model (e.g., confusion matrix, scatter plot of the true vs predicted values in regression, global/local feature importances). Describe what steps you took to make your model interpretable. What did you learn?</a:t>
            </a:r>
            <a:endParaRPr lang="en-US" altLang="zh-CN" sz="1600" b="0" i="0">
              <a:solidFill>
                <a:srgbClr val="000000"/>
              </a:solidFill>
              <a:latin typeface="Arial" panose="020B0604020202090204"/>
              <a:ea typeface="Arial" panose="020B06040202020902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3 Results - Model Performance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987425"/>
            <a:ext cx="9866630" cy="5584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8205" y="946785"/>
            <a:ext cx="6233795" cy="49650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8265" y="1255395"/>
            <a:ext cx="730758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Excellent performance on majority class: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92% of on-time orders correctly predicted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Meaningful detection of minority class: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39% of late deliveries identified (baseline = 0%)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>
              <a:lnSpc>
                <a:spcPct val="200000"/>
              </a:lnSpc>
              <a:buClrTx/>
              <a:buSzTx/>
              <a:buFontTx/>
            </a:pP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Still challenging due to strong class imbalance: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61% of late orders misclassified as on-time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3 Results - Confusion Matrix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4075" y="1145540"/>
            <a:ext cx="3681095" cy="34747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85" y="1130935"/>
            <a:ext cx="4345305" cy="34601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50" y="1130300"/>
            <a:ext cx="4177665" cy="354901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3 Results - Global Feature Importance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06045" y="4895850"/>
            <a:ext cx="1145032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Even though these methods measure importance in very different ways, they all highlight the same patterns: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purchase_to_estimated_days — how early the customer placed the order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cyclic time features like month_sin and month_cos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and geographical features such as customer_state_SP, same_state_0, and seller/buyer state combinations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3 Results - </a:t>
            </a:r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Local Feature Importance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190" y="0"/>
            <a:ext cx="482981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1642110"/>
            <a:ext cx="7117080" cy="1617345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2074545" y="1207135"/>
            <a:ext cx="5874385" cy="368300"/>
            <a:chOff x="4667" y="7480"/>
            <a:chExt cx="9251" cy="580"/>
          </a:xfrm>
        </p:grpSpPr>
        <p:sp>
          <p:nvSpPr>
            <p:cNvPr id="10" name="Text Box 9"/>
            <p:cNvSpPr txBox="1"/>
            <p:nvPr/>
          </p:nvSpPr>
          <p:spPr>
            <a:xfrm>
              <a:off x="4667" y="7480"/>
              <a:ext cx="92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/>
                <a:t>Too crowded              </a:t>
              </a:r>
              <a:r>
                <a:rPr lang="en-US"/>
                <a:t>Try waterfall plot instead:</a:t>
              </a:r>
              <a:endParaRPr lang="en-US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7403" y="7560"/>
              <a:ext cx="576" cy="395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3" name="Text Box 12"/>
          <p:cNvSpPr txBox="1"/>
          <p:nvPr/>
        </p:nvSpPr>
        <p:spPr>
          <a:xfrm>
            <a:off x="170180" y="3178175"/>
            <a:ext cx="925131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en-US" sz="2000">
                <a:latin typeface="Times New Roman Regular" panose="02020503050405090304" charset="0"/>
                <a:cs typeface="Times New Roman Regular" panose="02020503050405090304" charset="0"/>
              </a:rPr>
              <a:t>Prediction for this order: 4.9% late (lower than the dataset average 19.5%)</a:t>
            </a:r>
            <a:endParaRPr lang="en-US" altLang="en-US"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A few features dominate the decision: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purchase_to_estimated_days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total_freight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temporal features (month_sin, month_cos)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seller_avg_score_past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latin typeface="Times New Roman Regular" panose="02020503050405090304" charset="0"/>
                <a:cs typeface="Times New Roman Regular" panose="02020503050405090304" charset="0"/>
              </a:rPr>
              <a:t>Most other features contribute almost 0, because this order looks “typical”</a:t>
            </a:r>
            <a:endParaRPr lang="en-US" alt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Text Box 13"/>
          <p:cNvSpPr txBox="1"/>
          <p:nvPr/>
        </p:nvSpPr>
        <p:spPr>
          <a:xfrm>
            <a:off x="170180" y="212090"/>
            <a:ext cx="806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3 Results - </a:t>
            </a:r>
            <a:r>
              <a:rPr lang="en-US" sz="3600">
                <a:latin typeface="Times New Roman Regular" panose="02020503050405090304" charset="0"/>
                <a:cs typeface="Times New Roman Regular" panose="02020503050405090304" charset="0"/>
              </a:rPr>
              <a:t>Outlook</a:t>
            </a:r>
            <a:endParaRPr lang="en-US" sz="3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70180" y="1424305"/>
            <a:ext cx="3338195" cy="4097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307340" y="1530985"/>
            <a:ext cx="3129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Richer features </a:t>
            </a:r>
            <a:endParaRPr lang="en-US" altLang="en-US" sz="2400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(data limitations)</a:t>
            </a:r>
            <a:endParaRPr lang="en-US" altLang="en-US" sz="2400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37820" y="2506980"/>
            <a:ext cx="4332605" cy="301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300000"/>
              </a:lnSpc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Only public Olist fields.</a:t>
            </a:r>
            <a:endParaRPr lang="en-US" altLang="en-US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 algn="l">
              <a:lnSpc>
                <a:spcPct val="300000"/>
              </a:lnSpc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Missing operational signals.</a:t>
            </a:r>
            <a:endParaRPr lang="en-US" altLang="en-US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 algn="l">
              <a:lnSpc>
                <a:spcPct val="300000"/>
              </a:lnSpc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Missing context signals.  </a:t>
            </a:r>
            <a:endParaRPr lang="en-US" altLang="en-US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91135" y="2391410"/>
            <a:ext cx="3317240" cy="0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4144010" y="1424305"/>
            <a:ext cx="4429760" cy="4097020"/>
            <a:chOff x="6675" y="2243"/>
            <a:chExt cx="6976" cy="6452"/>
          </a:xfrm>
        </p:grpSpPr>
        <p:sp>
          <p:nvSpPr>
            <p:cNvPr id="16" name="Rounded Rectangle 15"/>
            <p:cNvSpPr/>
            <p:nvPr/>
          </p:nvSpPr>
          <p:spPr>
            <a:xfrm>
              <a:off x="6829" y="2243"/>
              <a:ext cx="5917" cy="64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6675" y="2427"/>
              <a:ext cx="6248" cy="1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en-US" sz="2400" b="1">
                  <a:solidFill>
                    <a:schemeClr val="bg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Handling class imbalance more aggressively</a:t>
              </a:r>
              <a:endParaRPr lang="en-US" altLang="en-US" sz="2400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  <a:p>
              <a:pPr algn="ctr"/>
              <a:endParaRPr lang="en-US" altLang="en-US" sz="2400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829" y="3718"/>
              <a:ext cx="6095" cy="0"/>
            </a:xfrm>
            <a:prstGeom prst="line">
              <a:avLst/>
            </a:prstGeom>
            <a:ln w="57150" cap="flat" cmpd="sng">
              <a:solidFill>
                <a:schemeClr val="bg1"/>
              </a:solidFill>
              <a:prstDash val="solid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" name="Text Box 17"/>
            <p:cNvSpPr txBox="1"/>
            <p:nvPr/>
          </p:nvSpPr>
          <p:spPr>
            <a:xfrm>
              <a:off x="6829" y="3899"/>
              <a:ext cx="6823" cy="47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285750" indent="-285750" algn="l">
                <a:lnSpc>
                  <a:spcPct val="300000"/>
                </a:lnSpc>
                <a:buFont typeface="Arial" panose="020B0604020202090204" pitchFamily="34" charset="0"/>
                <a:buChar char="•"/>
              </a:pPr>
              <a:r>
                <a:rPr lang="en-US" altLang="en-US" b="1">
                  <a:solidFill>
                    <a:schemeClr val="bg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Try more advanced resampling. </a:t>
              </a:r>
              <a:endPara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  <a:p>
              <a:pPr marL="285750" indent="-285750" algn="l">
                <a:lnSpc>
                  <a:spcPct val="300000"/>
                </a:lnSpc>
                <a:buFont typeface="Arial" panose="020B0604020202090204" pitchFamily="34" charset="0"/>
                <a:buChar char="•"/>
              </a:pPr>
              <a:r>
                <a:rPr lang="en-US" altLang="en-US" b="1">
                  <a:solidFill>
                    <a:schemeClr val="bg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Macro F1 as evaluation matri</a:t>
              </a:r>
              <a:r>
                <a:rPr lang="en-US" altLang="en-US" b="1">
                  <a:solidFill>
                    <a:schemeClr val="bg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x</a:t>
              </a:r>
              <a:endPara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  <a:p>
              <a:pPr marL="285750" indent="-285750" algn="l">
                <a:lnSpc>
                  <a:spcPct val="300000"/>
                </a:lnSpc>
                <a:buFont typeface="Arial" panose="020B0604020202090204" pitchFamily="34" charset="0"/>
                <a:buChar char="•"/>
              </a:pPr>
              <a:r>
                <a:rPr lang="en-US" altLang="en-US" b="1">
                  <a:solidFill>
                    <a:schemeClr val="bg1"/>
                  </a:solidFill>
                  <a:latin typeface="Times New Roman Bold" panose="02020503050405090304" charset="0"/>
                  <a:cs typeface="Times New Roman Bold" panose="02020503050405090304" charset="0"/>
                </a:rPr>
                <a:t>Explore imbalance-robust models.  </a:t>
              </a:r>
              <a:endPara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8669020" y="1393825"/>
            <a:ext cx="3443605" cy="40976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8806180" y="1500505"/>
            <a:ext cx="3129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2400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Improving interpretability</a:t>
            </a:r>
            <a:endParaRPr lang="en-US" altLang="en-US" sz="2400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8689975" y="2360930"/>
            <a:ext cx="3317240" cy="0"/>
          </a:xfrm>
          <a:prstGeom prst="line">
            <a:avLst/>
          </a:prstGeom>
          <a:ln w="57150" cap="flat" cmpd="sng">
            <a:solidFill>
              <a:schemeClr val="bg1"/>
            </a:soli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8693150" y="2505710"/>
            <a:ext cx="3442970" cy="4352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3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Translate SHAP patterns into business rules</a:t>
            </a:r>
            <a:endParaRPr lang="en-US" altLang="en-US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285750" indent="-285750" algn="l">
              <a:lnSpc>
                <a:spcPct val="30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en-US" altLang="en-US" b="1">
                <a:solidFill>
                  <a:schemeClr val="bg1"/>
                </a:solidFill>
                <a:latin typeface="Times New Roman Bold" panose="02020503050405090304" charset="0"/>
                <a:cs typeface="Times New Roman Bold" panose="02020503050405090304" charset="0"/>
              </a:rPr>
              <a:t>Add complementary plots</a:t>
            </a:r>
            <a:endParaRPr lang="en-US" altLang="en-US" b="1">
              <a:solidFill>
                <a:schemeClr val="bg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427621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Q&amp;A</a:t>
            </a:r>
            <a:endParaRPr lang="en-US" sz="9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6*319"/>
  <p:tag name="TABLE_ENDDRAG_RECT" val="45*194*886*31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3666</Words>
  <Application>WPS Presentation</Application>
  <PresentationFormat>Widescreen</PresentationFormat>
  <Paragraphs>154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Times New Roman Regular</vt:lpstr>
      <vt:lpstr>Times New Roman Italic</vt:lpstr>
      <vt:lpstr>Times New Roman Bold</vt:lpstr>
      <vt:lpstr>Times New Roman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Apple Color Emoji</vt:lpstr>
      <vt:lpstr>Arial</vt:lpstr>
      <vt:lpstr>汉仪书魂体简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-</cp:lastModifiedBy>
  <cp:revision>35</cp:revision>
  <dcterms:created xsi:type="dcterms:W3CDTF">2025-12-11T22:42:55Z</dcterms:created>
  <dcterms:modified xsi:type="dcterms:W3CDTF">2025-12-11T22:42:55Z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1033-6.14.0.8924</vt:lpwstr>
  </property>
  <property fmtid="{D5CDD505-2E9C-101B-9397-08002B2CF9AE}" pid="3" name="ICV">
    <vt:lpwstr>796F8B04D7568D3FE100F56856897E3C_41</vt:lpwstr>
  </property>
</Properties>
</file>